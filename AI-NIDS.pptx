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8" r:id="rId12"/>
    <p:sldId id="279" r:id="rId13"/>
    <p:sldId id="280" r:id="rId14"/>
    <p:sldId id="268" r:id="rId15"/>
    <p:sldId id="281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6858000" type="screen4x3"/>
  <p:notesSz cx="6858000" cy="9144000"/>
  <p:embeddedFontLst>
    <p:embeddedFont>
      <p:font typeface="Libre Baskerville" panose="02000000000000000000" pitchFamily="2" charset="0"/>
      <p:regular r:id="rId26"/>
      <p:bold r:id="rId27"/>
      <p:italic r:id="rId28"/>
    </p:embeddedFont>
    <p:embeddedFont>
      <p:font typeface="Libre Franklin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78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e7012cc54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7e7012cc54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e7012cc54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7e7012cc54_2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e7012cc54_2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7e7012cc54_2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e7012cc54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7e7012cc54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>
          <a:extLst>
            <a:ext uri="{FF2B5EF4-FFF2-40B4-BE49-F238E27FC236}">
              <a16:creationId xmlns:a16="http://schemas.microsoft.com/office/drawing/2014/main" id="{8F832763-1BE7-3CB3-AC24-DDE84EF4E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>
            <a:extLst>
              <a:ext uri="{FF2B5EF4-FFF2-40B4-BE49-F238E27FC236}">
                <a16:creationId xmlns:a16="http://schemas.microsoft.com/office/drawing/2014/main" id="{0CD7E61C-ADC8-783E-AC43-202464AC95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9AB42CE5-9383-8F06-6C5F-0E5BCCE718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33420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>
          <a:extLst>
            <a:ext uri="{FF2B5EF4-FFF2-40B4-BE49-F238E27FC236}">
              <a16:creationId xmlns:a16="http://schemas.microsoft.com/office/drawing/2014/main" id="{A6CC316B-1E92-4710-23AA-6BFAAA6BA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>
            <a:extLst>
              <a:ext uri="{FF2B5EF4-FFF2-40B4-BE49-F238E27FC236}">
                <a16:creationId xmlns:a16="http://schemas.microsoft.com/office/drawing/2014/main" id="{65001900-59D1-314A-433B-4D27BB432F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578C7BAA-E123-5338-7971-147697BFA5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121412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>
          <a:extLst>
            <a:ext uri="{FF2B5EF4-FFF2-40B4-BE49-F238E27FC236}">
              <a16:creationId xmlns:a16="http://schemas.microsoft.com/office/drawing/2014/main" id="{62060BEA-F8FC-C9A7-8059-EBA46738A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>
            <a:extLst>
              <a:ext uri="{FF2B5EF4-FFF2-40B4-BE49-F238E27FC236}">
                <a16:creationId xmlns:a16="http://schemas.microsoft.com/office/drawing/2014/main" id="{02437D1B-139C-E2F2-665F-F876BF674F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7AFFEA04-14F1-2545-FFEE-12D9EB9D78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02022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e7012cc54_2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7e7012cc54_2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43CCA7EF-BC73-279D-E77E-37781103E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e7012cc54_2_76:notes">
            <a:extLst>
              <a:ext uri="{FF2B5EF4-FFF2-40B4-BE49-F238E27FC236}">
                <a16:creationId xmlns:a16="http://schemas.microsoft.com/office/drawing/2014/main" id="{7DB6BF89-2415-A832-CB31-4B5C73BB3B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7e7012cc54_2_76:notes">
            <a:extLst>
              <a:ext uri="{FF2B5EF4-FFF2-40B4-BE49-F238E27FC236}">
                <a16:creationId xmlns:a16="http://schemas.microsoft.com/office/drawing/2014/main" id="{C3A9AE46-D93E-A24F-6EDE-406F9C2610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37963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e7012cc54_2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e7012cc54_2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7e7012cc54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7e7012cc54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7e7012cc54_2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7e7012cc54_2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7e7012cc54_2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7e7012cc54_2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7e7012cc5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7e7012cc5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7e836864a5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7e836864a5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7e836864a5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7e836864a5_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2" name="Google Shape;2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blipFill rotWithShape="1">
          <a:blip r:embed="rId2">
            <a:alphaModFix/>
          </a:blip>
          <a:tile tx="0" ty="0" sx="55000" sy="55000" flip="none" algn="tl"/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blipFill rotWithShape="1">
            <a:blip r:embed="rId2">
              <a:alphaModFix/>
            </a:blip>
            <a:tile tx="0" ty="0" sx="55000" sy="55000" flip="none" algn="tl"/>
          </a:blipFill>
          <a:ln w="9525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  <a:defRPr sz="260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3pPr>
            <a:lvl4pPr lvl="3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>
            <a:spLocks noGrp="1"/>
          </p:cNvSpPr>
          <p:nvPr>
            <p:ph type="sldNum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ibre Franklin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>
            <a:spLocks noGrp="1"/>
          </p:cNvSpPr>
          <p:nvPr>
            <p:ph type="sldNum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blipFill rotWithShape="1">
          <a:blip r:embed="rId2">
            <a:alphaModFix/>
          </a:blip>
          <a:tile tx="0" ty="0" sx="55000" sy="55000" flip="none" algn="tl"/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blipFill rotWithShape="1">
            <a:blip r:embed="rId2">
              <a:alphaModFix/>
            </a:blip>
            <a:tile tx="0" ty="0" sx="55000" sy="55000" flip="none" algn="tl"/>
          </a:blipFill>
          <a:ln w="9525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  <a:defRPr sz="2400">
                <a:solidFill>
                  <a:srgbClr val="888888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00"/>
              <a:buFont typeface="Libre Baskerville"/>
              <a:buNone/>
              <a:defRPr sz="14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5" name="Google Shape;35;p4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ftr" idx="11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/>
          <p:nvPr/>
        </p:nvSpPr>
        <p:spPr>
          <a:xfrm rot="10800000" flipH="1">
            <a:off x="69412" y="2376830"/>
            <a:ext cx="9013515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40" name="Google Shape;40;p4"/>
          <p:cNvSpPr>
            <a:spLocks noGrp="1"/>
          </p:cNvSpPr>
          <p:nvPr>
            <p:ph type="sldNum" idx="12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>
            <a:spLocks noGrp="1"/>
          </p:cNvSpPr>
          <p:nvPr>
            <p:ph type="sldNum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2"/>
          </p:nvPr>
        </p:nvSpPr>
        <p:spPr>
          <a:xfrm>
            <a:off x="493395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  <a:defRPr sz="2400" b="1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sz="1600" b="1"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2"/>
          </p:nvPr>
        </p:nvSpPr>
        <p:spPr>
          <a:xfrm>
            <a:off x="49530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  <a:defRPr sz="2400" b="1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sz="1600" b="1"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"/>
          <p:cNvSpPr>
            <a:spLocks noGrp="1"/>
          </p:cNvSpPr>
          <p:nvPr>
            <p:ph type="sldNum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body" idx="3"/>
          </p:nvPr>
        </p:nvSpPr>
        <p:spPr>
          <a:xfrm>
            <a:off x="9144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6" name="Google Shape;56;p6"/>
          <p:cNvSpPr txBox="1">
            <a:spLocks noGrp="1"/>
          </p:cNvSpPr>
          <p:nvPr>
            <p:ph type="body" idx="4"/>
          </p:nvPr>
        </p:nvSpPr>
        <p:spPr>
          <a:xfrm>
            <a:off x="49530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>
            <a:spLocks noGrp="1"/>
          </p:cNvSpPr>
          <p:nvPr>
            <p:ph type="sldNum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>
            <a:spLocks noGrp="1"/>
          </p:cNvSpPr>
          <p:nvPr>
            <p:ph type="sldNum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68" name="Google Shape;68;p9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solidFill>
            <a:schemeClr val="lt1"/>
          </a:solidFill>
          <a:ln w="9525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sz="40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1905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8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None/>
              <a:defRPr sz="900"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1" name="Google Shape;71;p9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>
            <a:spLocks noGrp="1"/>
          </p:cNvSpPr>
          <p:nvPr>
            <p:ph type="sldNum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2"/>
          </p:nvPr>
        </p:nvSpPr>
        <p:spPr>
          <a:xfrm>
            <a:off x="2971800" y="1600200"/>
            <a:ext cx="5715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Franklin"/>
              <a:buNone/>
              <a:defRPr sz="2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body" idx="1"/>
          </p:nvPr>
        </p:nvSpPr>
        <p:spPr>
          <a:xfrm>
            <a:off x="914400" y="5445825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360"/>
              <a:buFont typeface="Libre Baskerville"/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293369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020"/>
              <a:buChar char="⚫"/>
              <a:defRPr sz="1200"/>
            </a:lvl2pPr>
            <a:lvl3pPr marL="1371600" lvl="2" indent="-28257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850"/>
              <a:buChar char="⚫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720"/>
              <a:buChar char="⚫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Char char="o"/>
              <a:defRPr sz="900"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8" name="Google Shape;78;p10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>
            <a:spLocks noGrp="1"/>
          </p:cNvSpPr>
          <p:nvPr>
            <p:ph type="sldNum" idx="12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10"/>
          <p:cNvSpPr/>
          <p:nvPr/>
        </p:nvSpPr>
        <p:spPr>
          <a:xfrm rot="10800000" flipH="1">
            <a:off x="68307" y="4683555"/>
            <a:ext cx="900684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84" name="Google Shape;84;p10"/>
          <p:cNvSpPr>
            <a:spLocks noGrp="1"/>
          </p:cNvSpPr>
          <p:nvPr>
            <p:ph type="pic" idx="2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 rot="5400000">
            <a:off x="2514600" y="-152400"/>
            <a:ext cx="45720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8" name="Google Shape;88;p11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>
            <a:spLocks noGrp="1"/>
          </p:cNvSpPr>
          <p:nvPr>
            <p:ph type="sldNum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 rot="5400000">
            <a:off x="4709478" y="2194564"/>
            <a:ext cx="5851525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 rot="5400000">
            <a:off x="769938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2"/>
          <p:cNvSpPr>
            <a:spLocks noGrp="1"/>
          </p:cNvSpPr>
          <p:nvPr>
            <p:ph type="sldNum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solidFill>
            <a:schemeClr val="lt1"/>
          </a:solidFill>
          <a:ln w="9525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935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sz="26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7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Libre Baskerville"/>
              <a:buChar char="o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Libre Baskervil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 lang="en-US"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Libre Baskervil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 lang="en-US" dirty="0"/>
          </a:p>
        </p:txBody>
      </p:sp>
      <p:sp>
        <p:nvSpPr>
          <p:cNvPr id="12" name="Google Shape;12;p1"/>
          <p:cNvSpPr>
            <a:spLocks noGrp="1"/>
          </p:cNvSpPr>
          <p:nvPr>
            <p:ph type="sldNum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"/>
          <p:cNvSpPr txBox="1">
            <a:spLocks noGrp="1"/>
          </p:cNvSpPr>
          <p:nvPr>
            <p:ph type="ctrTitle"/>
          </p:nvPr>
        </p:nvSpPr>
        <p:spPr>
          <a:xfrm>
            <a:off x="457200" y="1505930"/>
            <a:ext cx="82296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Libre Franklin"/>
              <a:buNone/>
            </a:pPr>
            <a:r>
              <a:rPr lang="en-US" sz="2800" b="1" dirty="0"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“AI-BASED CYBER THREAT DETECTION IN NETWORK TRAFFIC”</a:t>
            </a:r>
            <a:endParaRPr sz="2800" b="1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403648" y="188640"/>
            <a:ext cx="7416900" cy="1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None/>
            </a:pPr>
            <a:r>
              <a:rPr lang="en-US" sz="2000" b="1" i="0" u="none" strike="noStrike" cap="none" dirty="0">
                <a:solidFill>
                  <a:schemeClr val="dk2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B.M.S. College of Engineering</a:t>
            </a:r>
            <a:endParaRPr sz="10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None/>
            </a:pPr>
            <a:r>
              <a:rPr lang="en-US" sz="2000" b="1" i="0" u="none" strike="noStrike" cap="none" dirty="0">
                <a:solidFill>
                  <a:schemeClr val="dk2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Department of Information Science and Engineering</a:t>
            </a:r>
            <a:endParaRPr sz="10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None/>
            </a:pPr>
            <a:r>
              <a:rPr lang="en-US" sz="2000" b="1" i="0" u="none" strike="noStrike" cap="none" dirty="0">
                <a:solidFill>
                  <a:schemeClr val="dk2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Review - I</a:t>
            </a:r>
            <a:endParaRPr sz="2000" b="1" i="0" u="none" strike="noStrike" cap="none" dirty="0">
              <a:solidFill>
                <a:schemeClr val="dk2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pic>
        <p:nvPicPr>
          <p:cNvPr id="104" name="Google Shape;104;p13" descr="Related 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134" y="195450"/>
            <a:ext cx="1019522" cy="99233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/>
          <p:nvPr/>
        </p:nvSpPr>
        <p:spPr>
          <a:xfrm>
            <a:off x="124392" y="3429000"/>
            <a:ext cx="6075240" cy="16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2000" b="1" i="0" u="sng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Batch No:- </a:t>
            </a:r>
            <a:r>
              <a:rPr lang="en-US" sz="2000" b="1" u="sng" dirty="0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94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2000" b="1" i="0" u="sng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	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Girish Kumar K S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	     (1BM22IS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079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)</a:t>
            </a:r>
            <a:endParaRPr sz="20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	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Movva Rahul Datta    </a:t>
            </a:r>
            <a:r>
              <a:rPr lang="en-US" sz="800" b="1" dirty="0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     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  (1BM22I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S117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)</a:t>
            </a:r>
            <a:endParaRPr sz="20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	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Shruti Mishra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                       (1BM22IS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189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)</a:t>
            </a:r>
            <a:endParaRPr sz="20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6110592" y="4946904"/>
            <a:ext cx="2781000" cy="12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000" b="1" u="sng" dirty="0">
              <a:solidFill>
                <a:schemeClr val="dk1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000" b="1" i="0" u="sng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Under the Guidance of: </a:t>
            </a:r>
            <a:endParaRPr sz="2000" b="1" i="0" u="sng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DivyaShree S</a:t>
            </a:r>
            <a:endParaRPr sz="20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Professor</a:t>
            </a:r>
            <a:endParaRPr sz="20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Department of ISE</a:t>
            </a:r>
            <a:endParaRPr sz="20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0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 txBox="1">
            <a:spLocks noGrp="1"/>
          </p:cNvSpPr>
          <p:nvPr>
            <p:ph type="title"/>
          </p:nvPr>
        </p:nvSpPr>
        <p:spPr>
          <a:xfrm>
            <a:off x="611545" y="453776"/>
            <a:ext cx="7772400" cy="72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en-US" b="1" dirty="0"/>
              <a:t>Contents</a:t>
            </a:r>
            <a:endParaRPr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B4511C-F5C7-A64E-4265-B29A4D366D28}"/>
              </a:ext>
            </a:extLst>
          </p:cNvPr>
          <p:cNvSpPr txBox="1"/>
          <p:nvPr/>
        </p:nvSpPr>
        <p:spPr>
          <a:xfrm>
            <a:off x="611545" y="1502265"/>
            <a:ext cx="4572000" cy="4807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5795" lvl="0" indent="-514350" algn="l" rtl="0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Clr>
                <a:schemeClr val="tx1"/>
              </a:buClr>
              <a:buSzPct val="990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645795" lvl="0" indent="-514350" algn="l" rtl="0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Clr>
                <a:schemeClr val="tx1"/>
              </a:buClr>
              <a:buSzPct val="990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645795" lvl="0" indent="-514350" algn="l" rtl="0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Clr>
                <a:schemeClr val="tx1"/>
              </a:buClr>
              <a:buSzPct val="990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marL="645795" lvl="0" indent="-514350" algn="l" rtl="0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Clr>
                <a:schemeClr val="tx1"/>
              </a:buClr>
              <a:buSzPct val="990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</a:t>
            </a:r>
          </a:p>
          <a:p>
            <a:pPr marL="645795" lvl="0" indent="-514350" algn="l" rtl="0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Clr>
                <a:schemeClr val="tx1"/>
              </a:buClr>
              <a:buSzPct val="990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645795" lvl="0" indent="-514350" algn="l" rtl="0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Clr>
                <a:schemeClr val="tx1"/>
              </a:buClr>
              <a:buSzPct val="990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models</a:t>
            </a:r>
          </a:p>
          <a:p>
            <a:pPr marL="645795" lvl="0" indent="-514350" algn="l" rtl="0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Clr>
                <a:schemeClr val="tx1"/>
              </a:buClr>
              <a:buSzPct val="990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645795" lvl="0" indent="-514350" algn="l" rtl="0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Clr>
                <a:schemeClr val="tx1"/>
              </a:buClr>
              <a:buSzPct val="990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645795" lvl="0" indent="-514350" algn="l" rtl="0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Clr>
                <a:schemeClr val="tx1"/>
              </a:buClr>
              <a:buSzPct val="990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>
            <a:spLocks noGrp="1"/>
          </p:cNvSpPr>
          <p:nvPr>
            <p:ph type="title"/>
          </p:nvPr>
        </p:nvSpPr>
        <p:spPr>
          <a:xfrm>
            <a:off x="611560" y="481132"/>
            <a:ext cx="77724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en-US" b="1" dirty="0"/>
              <a:t>Introduction</a:t>
            </a:r>
            <a:endParaRPr b="1" dirty="0"/>
          </a:p>
        </p:txBody>
      </p:sp>
      <p:sp>
        <p:nvSpPr>
          <p:cNvPr id="118" name="Google Shape;118;p15"/>
          <p:cNvSpPr txBox="1">
            <a:spLocks noGrp="1"/>
          </p:cNvSpPr>
          <p:nvPr>
            <p:ph type="body" idx="1"/>
          </p:nvPr>
        </p:nvSpPr>
        <p:spPr>
          <a:xfrm>
            <a:off x="526950" y="1859866"/>
            <a:ext cx="8090100" cy="379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/>
              <a:t>As cyber threats grow increasingly sophisticated, traditional rule-based systems struggle to keep up. This project leverages Artificial Intelligence (AI)—including machine learning and deep learning —to analyze network traffic and detect malicious activities in real-time. By integrating adaptive learning, explainable AI, and adversarial resilience, the system aims to minimize false positives and detect both known and zero-day attacks. This project contributes to building smarter, faster, and more robust cybersecurity solutions, ensuring proactive defense in a rapidly evolving digital world.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>
            <a:spLocks noGrp="1"/>
          </p:cNvSpPr>
          <p:nvPr>
            <p:ph type="title"/>
          </p:nvPr>
        </p:nvSpPr>
        <p:spPr>
          <a:xfrm>
            <a:off x="611560" y="481132"/>
            <a:ext cx="77724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"/>
              <a:buNone/>
            </a:pPr>
            <a:r>
              <a:rPr lang="en-US" sz="4000" b="1" dirty="0"/>
              <a:t>Objectives</a:t>
            </a:r>
            <a:endParaRPr sz="4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B638A8-1EC5-C6C3-6647-80B9ECB83256}"/>
              </a:ext>
            </a:extLst>
          </p:cNvPr>
          <p:cNvSpPr txBox="1"/>
          <p:nvPr/>
        </p:nvSpPr>
        <p:spPr>
          <a:xfrm>
            <a:off x="438912" y="1644122"/>
            <a:ext cx="8229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AI-based system to detect cyber threats in network traffic using machine learning and deep learning techniques.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feedback-based learning to reduce false positives and improve detection accuracy over time.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Explainable AI (XAI) methods like SHAP/LIME to enhance model transparency and support analyst decision-making.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model security using adversarial training to defend against manipulated inputs.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online/incremental learning to allow real-time adaptation to emerging and evolving threats.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>
            <a:spLocks noGrp="1"/>
          </p:cNvSpPr>
          <p:nvPr>
            <p:ph type="title"/>
          </p:nvPr>
        </p:nvSpPr>
        <p:spPr>
          <a:xfrm>
            <a:off x="590175" y="264813"/>
            <a:ext cx="7772400" cy="1143000"/>
          </a:xfrm>
          <a:prstGeom prst="rect">
            <a:avLst/>
          </a:prstGeom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457200" lvl="0" indent="0" algn="ctr" rtl="0">
              <a:spcBef>
                <a:spcPts val="580"/>
              </a:spcBef>
              <a:spcAft>
                <a:spcPts val="0"/>
              </a:spcAft>
              <a:buNone/>
            </a:pPr>
            <a:r>
              <a:rPr lang="en-US" b="1" dirty="0">
                <a:latin typeface="Libre Franklin" pitchFamily="2" charset="0"/>
                <a:ea typeface="Libre Baskerville"/>
                <a:cs typeface="Times New Roman" panose="02020603050405020304" pitchFamily="18" charset="0"/>
                <a:sym typeface="Libre Baskerville"/>
              </a:rPr>
              <a:t>Problem Statement </a:t>
            </a:r>
            <a:endParaRPr b="1" dirty="0">
              <a:latin typeface="Libre Franklin" pitchFamily="2" charset="0"/>
            </a:endParaRPr>
          </a:p>
        </p:txBody>
      </p:sp>
      <p:sp>
        <p:nvSpPr>
          <p:cNvPr id="130" name="Google Shape;130;p17"/>
          <p:cNvSpPr txBox="1">
            <a:spLocks noGrp="1"/>
          </p:cNvSpPr>
          <p:nvPr>
            <p:ph type="body" idx="1"/>
          </p:nvPr>
        </p:nvSpPr>
        <p:spPr>
          <a:xfrm>
            <a:off x="685800" y="1819689"/>
            <a:ext cx="7772400" cy="457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/>
              <a:t>With the exponential growth of digital connectivity, network infrastructures face an unprecedented volume and diversity of cyber threats, including zero-day exploits, botnets, and advanced persistent threats. Traditional network intrusion detection systems (NIDS), which rely on signature-based or rule-based methods, struggle to detect novel and sophisticated attacks, especially in the presence of imbalanced datasets and evolving attack strategies. There is a pressing need for an adaptive, scalable, and intelligent detection system that can learn complex traffic patterns, handle data scarcity, and provide real-time, explainable threat identification to secure modern networks.</a:t>
            </a:r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>
            <a:spLocks noGrp="1"/>
          </p:cNvSpPr>
          <p:nvPr>
            <p:ph type="title"/>
          </p:nvPr>
        </p:nvSpPr>
        <p:spPr>
          <a:xfrm>
            <a:off x="251553" y="156738"/>
            <a:ext cx="8640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b="1" dirty="0"/>
              <a:t>System Design</a:t>
            </a:r>
            <a:endParaRPr b="1" dirty="0"/>
          </a:p>
        </p:txBody>
      </p:sp>
      <p:pic>
        <p:nvPicPr>
          <p:cNvPr id="137" name="Google Shape;13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8684" y="1817650"/>
            <a:ext cx="3314751" cy="417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85A7F7-593B-4B37-39A1-6E5F5CC8D09A}"/>
              </a:ext>
            </a:extLst>
          </p:cNvPr>
          <p:cNvSpPr txBox="1"/>
          <p:nvPr/>
        </p:nvSpPr>
        <p:spPr>
          <a:xfrm>
            <a:off x="667500" y="2985590"/>
            <a:ext cx="4572000" cy="1843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0 (Context Diagram):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Entity: Network Traffic Source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System: AI-Based NIDS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Alerts/Reports to Security Analyst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6016" y="1128350"/>
            <a:ext cx="1577022" cy="544254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E10140-E6C5-FC18-4E94-B93DFA2B025E}"/>
              </a:ext>
            </a:extLst>
          </p:cNvPr>
          <p:cNvSpPr txBox="1"/>
          <p:nvPr/>
        </p:nvSpPr>
        <p:spPr>
          <a:xfrm>
            <a:off x="832104" y="2074009"/>
            <a:ext cx="4572000" cy="3551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 (DFD):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flows: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traffic → Preprocessing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Processed data → Feature Selection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features → Data Augmentation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Augmented dataset → Detection Engine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output → Explainability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Explanations/alerts → Reporting</a:t>
            </a:r>
          </a:p>
        </p:txBody>
      </p:sp>
      <p:sp>
        <p:nvSpPr>
          <p:cNvPr id="4" name="Google Shape;135;p18">
            <a:extLst>
              <a:ext uri="{FF2B5EF4-FFF2-40B4-BE49-F238E27FC236}">
                <a16:creationId xmlns:a16="http://schemas.microsoft.com/office/drawing/2014/main" id="{071DE3EF-295F-D7CF-03F2-B5A4054DA8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1553" y="156738"/>
            <a:ext cx="8640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b="1" dirty="0"/>
              <a:t>System Design</a:t>
            </a:r>
            <a:endParaRPr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4104" y="1676453"/>
            <a:ext cx="3629964" cy="47580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5;p18">
            <a:extLst>
              <a:ext uri="{FF2B5EF4-FFF2-40B4-BE49-F238E27FC236}">
                <a16:creationId xmlns:a16="http://schemas.microsoft.com/office/drawing/2014/main" id="{685143B6-AC65-87EC-D7D1-614DD59CFF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1553" y="156738"/>
            <a:ext cx="8640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b="1" dirty="0"/>
              <a:t>System Design</a:t>
            </a:r>
            <a:endParaRPr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6A6E40-1866-07BC-B79D-320465172D85}"/>
              </a:ext>
            </a:extLst>
          </p:cNvPr>
          <p:cNvSpPr txBox="1"/>
          <p:nvPr/>
        </p:nvSpPr>
        <p:spPr>
          <a:xfrm>
            <a:off x="704088" y="2503001"/>
            <a:ext cx="4572000" cy="2304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2 (DFD):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Engine submodules: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Feature Extractor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Adversarial Training Component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>
            <a:spLocks noGrp="1"/>
          </p:cNvSpPr>
          <p:nvPr>
            <p:ph type="title"/>
          </p:nvPr>
        </p:nvSpPr>
        <p:spPr>
          <a:xfrm>
            <a:off x="848349" y="140418"/>
            <a:ext cx="7772400" cy="1143000"/>
          </a:xfrm>
          <a:prstGeom prst="rect">
            <a:avLst/>
          </a:prstGeom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259"/>
              <a:buFont typeface="Arial"/>
              <a:buNone/>
            </a:pPr>
            <a:r>
              <a:rPr lang="en-US" b="1" dirty="0">
                <a:latin typeface="Libre Franklin" pitchFamily="2" charset="0"/>
                <a:ea typeface="Arial"/>
                <a:cs typeface="Arial"/>
                <a:sym typeface="Arial"/>
              </a:rPr>
              <a:t>System Architecture</a:t>
            </a:r>
            <a:endParaRPr b="1" dirty="0">
              <a:latin typeface="Libre Franklin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7728" y="1552908"/>
            <a:ext cx="1847445" cy="45519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6981B5-2A47-3E26-DF02-8E22BAF4D5FB}"/>
              </a:ext>
            </a:extLst>
          </p:cNvPr>
          <p:cNvSpPr txBox="1"/>
          <p:nvPr/>
        </p:nvSpPr>
        <p:spPr>
          <a:xfrm>
            <a:off x="550862" y="1552908"/>
            <a:ext cx="6233986" cy="4557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9000"/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Capture Module: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real-time network traffic data.</a:t>
            </a:r>
          </a:p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9000"/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Module: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Cleans and extracts relevant features from raw packets.</a:t>
            </a:r>
          </a:p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9000"/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Module: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evolutionary algorithms to select optimal features.</a:t>
            </a:r>
          </a:p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9000"/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GAN-based Data Augmentation Module: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synthetic attack samples to balance the dataset.</a:t>
            </a:r>
          </a:p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9000"/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Detection Engine: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Employs deep CNNs for feature extraction and classification.</a:t>
            </a:r>
          </a:p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9000"/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 Layer: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interpretable outputs for detection decisions.</a:t>
            </a:r>
          </a:p>
          <a:p>
            <a:pPr marL="342900" lvl="0" indent="-342900" algn="just" rtl="0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SzPct val="99000"/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Alerting &amp; Reporting Module: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Notifies analysts and logs incidents.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>
            <a:spLocks noGrp="1"/>
          </p:cNvSpPr>
          <p:nvPr>
            <p:ph type="title"/>
          </p:nvPr>
        </p:nvSpPr>
        <p:spPr>
          <a:xfrm>
            <a:off x="443484" y="14741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b="1" dirty="0"/>
              <a:t>Implementation</a:t>
            </a:r>
            <a:endParaRPr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71F966-F05D-EBC3-F673-2EC92353AACC}"/>
              </a:ext>
            </a:extLst>
          </p:cNvPr>
          <p:cNvSpPr txBox="1"/>
          <p:nvPr/>
        </p:nvSpPr>
        <p:spPr>
          <a:xfrm>
            <a:off x="443484" y="1571298"/>
            <a:ext cx="8257032" cy="465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Data Preparation &amp; Ingestion –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&amp; Clean: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Read raw CSV files, normalize column names, and handle missing or infinite values.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 Labels: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various attack categories and "BENIGN" labels to a consistent, integer-based format.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Features: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MinMaxScaler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all numeric features to bring them into a uniform range (0 to 1).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&amp; Cap Dataset: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performance and class representation, the dataset is capped at 250,000 rows using stratified sampling, which preserves the original proportion of each attack type.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single, clean, and processed CSV file.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>
          <a:extLst>
            <a:ext uri="{FF2B5EF4-FFF2-40B4-BE49-F238E27FC236}">
              <a16:creationId xmlns:a16="http://schemas.microsoft.com/office/drawing/2014/main" id="{58AA4050-2FF8-7264-478D-8AC9A6A2E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>
            <a:extLst>
              <a:ext uri="{FF2B5EF4-FFF2-40B4-BE49-F238E27FC236}">
                <a16:creationId xmlns:a16="http://schemas.microsoft.com/office/drawing/2014/main" id="{4CF9346F-655B-8BF0-88F2-F343B8D770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3484" y="14741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b="1" dirty="0"/>
              <a:t>Implementation</a:t>
            </a:r>
            <a:endParaRPr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02B21F-E94E-FD9C-F8C8-AC9AB2C705F2}"/>
              </a:ext>
            </a:extLst>
          </p:cNvPr>
          <p:cNvSpPr txBox="1"/>
          <p:nvPr/>
        </p:nvSpPr>
        <p:spPr>
          <a:xfrm>
            <a:off x="443484" y="1571298"/>
            <a:ext cx="7356348" cy="341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Feature Selection -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Ranking: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Random Forest classifier is trained on the processed data specifically to calculate the impurity-based importance of each feature.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Top Features: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top 30 most important features are selected to be processed.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reduced dataset containing only the most predictive columns, along with a list of their names for future use. </a:t>
            </a:r>
          </a:p>
        </p:txBody>
      </p:sp>
    </p:spTree>
    <p:extLst>
      <p:ext uri="{BB962C8B-B14F-4D97-AF65-F5344CB8AC3E}">
        <p14:creationId xmlns:p14="http://schemas.microsoft.com/office/powerpoint/2010/main" val="343098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>
          <a:extLst>
            <a:ext uri="{FF2B5EF4-FFF2-40B4-BE49-F238E27FC236}">
              <a16:creationId xmlns:a16="http://schemas.microsoft.com/office/drawing/2014/main" id="{1B7B1B95-EC44-A661-0855-AFC40635B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>
            <a:extLst>
              <a:ext uri="{FF2B5EF4-FFF2-40B4-BE49-F238E27FC236}">
                <a16:creationId xmlns:a16="http://schemas.microsoft.com/office/drawing/2014/main" id="{F8F17E70-E5E5-4CFB-DB2B-C51BEBCA6C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3484" y="14741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b="1" dirty="0"/>
              <a:t>Implementation</a:t>
            </a:r>
            <a:endParaRPr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1B0184-02B7-B307-B199-1CBC0528CAA4}"/>
              </a:ext>
            </a:extLst>
          </p:cNvPr>
          <p:cNvSpPr txBox="1"/>
          <p:nvPr/>
        </p:nvSpPr>
        <p:spPr>
          <a:xfrm>
            <a:off x="443484" y="1571298"/>
            <a:ext cx="8257032" cy="3828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Model Training &amp; Evaluation -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ensemble of 400 decision trees. It's robust and provides strong baseline performance.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scikit-learn to train the model.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1D CNN: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deep learning model with Conv1D layers, designed to capture sequential patterns within the feature set. GAN Augmentation is a major plus point for the model.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model files (.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performance metrics (accuracy, F1- score, Recall score, Model size, Number of samples used to train the model), and associated metadata in JSON files. </a:t>
            </a:r>
          </a:p>
        </p:txBody>
      </p:sp>
    </p:spTree>
    <p:extLst>
      <p:ext uri="{BB962C8B-B14F-4D97-AF65-F5344CB8AC3E}">
        <p14:creationId xmlns:p14="http://schemas.microsoft.com/office/powerpoint/2010/main" val="2989051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>
          <a:extLst>
            <a:ext uri="{FF2B5EF4-FFF2-40B4-BE49-F238E27FC236}">
              <a16:creationId xmlns:a16="http://schemas.microsoft.com/office/drawing/2014/main" id="{A3BC1945-FB85-339A-4BF9-723DA4C8F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>
            <a:extLst>
              <a:ext uri="{FF2B5EF4-FFF2-40B4-BE49-F238E27FC236}">
                <a16:creationId xmlns:a16="http://schemas.microsoft.com/office/drawing/2014/main" id="{E076AC50-F730-A4B6-9F9D-B81D356B2B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3484" y="14741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b="1" dirty="0"/>
              <a:t>Implementation</a:t>
            </a:r>
            <a:endParaRPr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A9AC4D-6F7E-F91F-87E3-6AE5105811AC}"/>
              </a:ext>
            </a:extLst>
          </p:cNvPr>
          <p:cNvSpPr txBox="1"/>
          <p:nvPr/>
        </p:nvSpPr>
        <p:spPr>
          <a:xfrm>
            <a:off x="443484" y="1571298"/>
            <a:ext cx="8257032" cy="2997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Prediction &amp; Deployment -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Model: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API loads a persisted model (e.g., the Random Forest) and its feature list.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Request: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receives an incoming feature vector (as JSON).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Prediction: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is preprocessed to match the training format, fed into the model, and the resulting prediction (e.g., "Normal" or a specific attack type) is returned. </a:t>
            </a:r>
          </a:p>
        </p:txBody>
      </p:sp>
    </p:spTree>
    <p:extLst>
      <p:ext uri="{BB962C8B-B14F-4D97-AF65-F5344CB8AC3E}">
        <p14:creationId xmlns:p14="http://schemas.microsoft.com/office/powerpoint/2010/main" val="1390842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>
            <a:spLocks noGrp="1"/>
          </p:cNvSpPr>
          <p:nvPr>
            <p:ph type="body" idx="1"/>
          </p:nvPr>
        </p:nvSpPr>
        <p:spPr>
          <a:xfrm>
            <a:off x="293472" y="2164080"/>
            <a:ext cx="8557056" cy="380695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2328"/>
                </a:solidFill>
                <a:highlight>
                  <a:srgbClr val="FFFFFF"/>
                </a:highlight>
              </a:rPr>
              <a:t>2.1 Random Forest</a:t>
            </a:r>
            <a:endParaRPr sz="2000" b="1" dirty="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600"/>
              <a:buFont typeface="Libre Baskerville"/>
              <a:buChar char="●"/>
            </a:pPr>
            <a:r>
              <a:rPr lang="en-US" sz="2000" dirty="0">
                <a:solidFill>
                  <a:srgbClr val="1F2328"/>
                </a:solidFill>
                <a:highlight>
                  <a:srgbClr val="FFFFFF"/>
                </a:highlight>
              </a:rPr>
              <a:t>Ensemble of T decision trees (T=400). Each tree trained on bootstrap sample; feature subset per split (default sqrt(M)).</a:t>
            </a:r>
            <a:endParaRPr sz="2000" dirty="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600"/>
              <a:buFont typeface="Libre Baskerville"/>
              <a:buChar char="●"/>
            </a:pPr>
            <a:r>
              <a:rPr lang="en-US" sz="2000" dirty="0">
                <a:solidFill>
                  <a:srgbClr val="1F2328"/>
                </a:solidFill>
                <a:highlight>
                  <a:srgbClr val="FFFFFF"/>
                </a:highlight>
              </a:rPr>
              <a:t>Split criterion: Gini impurity G(S) = 1 - Σ p_k^2; choose feature/threshold maximizing ΔG.</a:t>
            </a:r>
            <a:endParaRPr sz="2000" dirty="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600"/>
              <a:buFont typeface="Libre Baskerville"/>
              <a:buChar char="●"/>
            </a:pPr>
            <a:r>
              <a:rPr lang="en-US" sz="2000" dirty="0">
                <a:solidFill>
                  <a:srgbClr val="1F2328"/>
                </a:solidFill>
                <a:highlight>
                  <a:srgbClr val="FFFFFF"/>
                </a:highlight>
              </a:rPr>
              <a:t>Prediction: majority vote (mode) across trees; probability = average of per-tree class distributions.</a:t>
            </a:r>
            <a:endParaRPr sz="2000" dirty="0">
              <a:solidFill>
                <a:srgbClr val="1F2328"/>
              </a:solidFill>
              <a:highlight>
                <a:srgbClr val="FFFFFF"/>
              </a:highlight>
            </a:endParaRPr>
          </a:p>
        </p:txBody>
      </p:sp>
      <p:sp>
        <p:nvSpPr>
          <p:cNvPr id="2" name="Google Shape;161;p22">
            <a:extLst>
              <a:ext uri="{FF2B5EF4-FFF2-40B4-BE49-F238E27FC236}">
                <a16:creationId xmlns:a16="http://schemas.microsoft.com/office/drawing/2014/main" id="{498D9452-7CEB-2C93-6AEF-E911FAD1FB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3484" y="43088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b="1" dirty="0"/>
              <a:t>Mathematical Models</a:t>
            </a:r>
            <a:endParaRPr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E2DFB2B1-2A45-C325-80C4-F5A018D29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>
            <a:extLst>
              <a:ext uri="{FF2B5EF4-FFF2-40B4-BE49-F238E27FC236}">
                <a16:creationId xmlns:a16="http://schemas.microsoft.com/office/drawing/2014/main" id="{70392EEC-6658-67C4-432E-E4A61EF582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472" y="2164080"/>
            <a:ext cx="8557056" cy="380695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1F2328"/>
                </a:solidFill>
              </a:rPr>
              <a:t>2.2 1D CNN Classifier</a:t>
            </a:r>
          </a:p>
          <a:p>
            <a:pPr lvl="0" indent="-330200">
              <a:lnSpc>
                <a:spcPct val="150000"/>
              </a:lnSpc>
              <a:spcBef>
                <a:spcPts val="0"/>
              </a:spcBef>
              <a:buClr>
                <a:srgbClr val="1F2328"/>
              </a:buClr>
              <a:buSzPts val="1600"/>
              <a:buFont typeface="Libre Baskerville"/>
              <a:buChar char="●"/>
            </a:pPr>
            <a:r>
              <a:rPr lang="en-US" sz="2000" dirty="0">
                <a:solidFill>
                  <a:srgbClr val="1F2328"/>
                </a:solidFill>
              </a:rPr>
              <a:t>Layers perform discrete convolution: (x * w)</a:t>
            </a:r>
            <a:r>
              <a:rPr lang="en-US" sz="2000" dirty="0" err="1">
                <a:solidFill>
                  <a:srgbClr val="1F2328"/>
                </a:solidFill>
              </a:rPr>
              <a:t>i</a:t>
            </a:r>
            <a:r>
              <a:rPr lang="en-US" sz="2000" dirty="0">
                <a:solidFill>
                  <a:srgbClr val="1F2328"/>
                </a:solidFill>
              </a:rPr>
              <a:t> = </a:t>
            </a:r>
            <a:r>
              <a:rPr lang="el-GR" sz="2000" dirty="0">
                <a:solidFill>
                  <a:srgbClr val="1F2328"/>
                </a:solidFill>
              </a:rPr>
              <a:t>Σ{</a:t>
            </a:r>
            <a:r>
              <a:rPr lang="en-US" sz="2000" dirty="0">
                <a:solidFill>
                  <a:srgbClr val="1F2328"/>
                </a:solidFill>
              </a:rPr>
              <a:t>j=0}^{K-1} x_{</a:t>
            </a:r>
            <a:r>
              <a:rPr lang="en-US" sz="2000" dirty="0" err="1">
                <a:solidFill>
                  <a:srgbClr val="1F2328"/>
                </a:solidFill>
              </a:rPr>
              <a:t>i+j</a:t>
            </a:r>
            <a:r>
              <a:rPr lang="en-US" sz="2000" dirty="0">
                <a:solidFill>
                  <a:srgbClr val="1F2328"/>
                </a:solidFill>
              </a:rPr>
              <a:t>} </a:t>
            </a:r>
            <a:r>
              <a:rPr lang="en-US" sz="2000" dirty="0" err="1">
                <a:solidFill>
                  <a:srgbClr val="1F2328"/>
                </a:solidFill>
              </a:rPr>
              <a:t>w_j</a:t>
            </a:r>
            <a:r>
              <a:rPr lang="en-US" sz="2000" dirty="0">
                <a:solidFill>
                  <a:srgbClr val="1F2328"/>
                </a:solidFill>
              </a:rPr>
              <a:t>.</a:t>
            </a:r>
          </a:p>
          <a:p>
            <a:pPr lvl="0" indent="-330200">
              <a:lnSpc>
                <a:spcPct val="150000"/>
              </a:lnSpc>
              <a:spcBef>
                <a:spcPts val="0"/>
              </a:spcBef>
              <a:buClr>
                <a:srgbClr val="1F2328"/>
              </a:buClr>
              <a:buSzPts val="1600"/>
              <a:buFont typeface="Libre Baskerville"/>
              <a:buChar char="●"/>
            </a:pPr>
            <a:r>
              <a:rPr lang="en-US" sz="2000" dirty="0" err="1">
                <a:solidFill>
                  <a:srgbClr val="1F2328"/>
                </a:solidFill>
              </a:rPr>
              <a:t>ReLU</a:t>
            </a:r>
            <a:r>
              <a:rPr lang="en-US" sz="2000" dirty="0">
                <a:solidFill>
                  <a:srgbClr val="1F2328"/>
                </a:solidFill>
              </a:rPr>
              <a:t> activation: f(z)=max(0,z); </a:t>
            </a:r>
            <a:r>
              <a:rPr lang="en-US" sz="2000" dirty="0" err="1">
                <a:solidFill>
                  <a:srgbClr val="1F2328"/>
                </a:solidFill>
              </a:rPr>
              <a:t>BatchNorm</a:t>
            </a:r>
            <a:r>
              <a:rPr lang="en-US" sz="2000" dirty="0">
                <a:solidFill>
                  <a:srgbClr val="1F2328"/>
                </a:solidFill>
              </a:rPr>
              <a:t> normalizes activations: y = </a:t>
            </a:r>
            <a:r>
              <a:rPr lang="el-GR" sz="2000" dirty="0">
                <a:solidFill>
                  <a:srgbClr val="1F2328"/>
                </a:solidFill>
              </a:rPr>
              <a:t>γ ( (</a:t>
            </a:r>
            <a:r>
              <a:rPr lang="en-US" sz="2000" dirty="0">
                <a:solidFill>
                  <a:srgbClr val="1F2328"/>
                </a:solidFill>
              </a:rPr>
              <a:t>x - </a:t>
            </a:r>
            <a:r>
              <a:rPr lang="el-GR" sz="2000" dirty="0">
                <a:solidFill>
                  <a:srgbClr val="1F2328"/>
                </a:solidFill>
              </a:rPr>
              <a:t>μ_</a:t>
            </a:r>
            <a:r>
              <a:rPr lang="en-US" sz="2000" dirty="0">
                <a:solidFill>
                  <a:srgbClr val="1F2328"/>
                </a:solidFill>
              </a:rPr>
              <a:t>B)/√(</a:t>
            </a:r>
            <a:r>
              <a:rPr lang="el-GR" sz="2000" dirty="0">
                <a:solidFill>
                  <a:srgbClr val="1F2328"/>
                </a:solidFill>
              </a:rPr>
              <a:t>σ_</a:t>
            </a:r>
            <a:r>
              <a:rPr lang="en-US" sz="2000" dirty="0">
                <a:solidFill>
                  <a:srgbClr val="1F2328"/>
                </a:solidFill>
              </a:rPr>
              <a:t>B^2+</a:t>
            </a:r>
            <a:r>
              <a:rPr lang="el-GR" sz="2000" dirty="0">
                <a:solidFill>
                  <a:srgbClr val="1F2328"/>
                </a:solidFill>
              </a:rPr>
              <a:t>ε) ) + β.</a:t>
            </a:r>
          </a:p>
          <a:p>
            <a:pPr lvl="0" indent="-330200">
              <a:lnSpc>
                <a:spcPct val="150000"/>
              </a:lnSpc>
              <a:spcBef>
                <a:spcPts val="0"/>
              </a:spcBef>
              <a:buClr>
                <a:srgbClr val="1F2328"/>
              </a:buClr>
              <a:buSzPts val="1600"/>
              <a:buFont typeface="Libre Baskerville"/>
              <a:buChar char="●"/>
            </a:pPr>
            <a:r>
              <a:rPr lang="en-US" sz="2000" dirty="0">
                <a:solidFill>
                  <a:srgbClr val="1F2328"/>
                </a:solidFill>
              </a:rPr>
              <a:t>Global Average Pooling: </a:t>
            </a:r>
            <a:r>
              <a:rPr lang="en-US" sz="2000" dirty="0" err="1">
                <a:solidFill>
                  <a:srgbClr val="1F2328"/>
                </a:solidFill>
              </a:rPr>
              <a:t>v_k</a:t>
            </a:r>
            <a:r>
              <a:rPr lang="en-US" sz="2000" dirty="0">
                <a:solidFill>
                  <a:srgbClr val="1F2328"/>
                </a:solidFill>
              </a:rPr>
              <a:t> = (1/L) </a:t>
            </a:r>
            <a:r>
              <a:rPr lang="el-GR" sz="2000" dirty="0">
                <a:solidFill>
                  <a:srgbClr val="1F2328"/>
                </a:solidFill>
              </a:rPr>
              <a:t>Σ_{</a:t>
            </a:r>
            <a:r>
              <a:rPr lang="en-US" sz="2000" dirty="0" err="1">
                <a:solidFill>
                  <a:srgbClr val="1F2328"/>
                </a:solidFill>
              </a:rPr>
              <a:t>i</a:t>
            </a:r>
            <a:r>
              <a:rPr lang="en-US" sz="2000" dirty="0">
                <a:solidFill>
                  <a:srgbClr val="1F2328"/>
                </a:solidFill>
              </a:rPr>
              <a:t>=1}^L a_{</a:t>
            </a:r>
            <a:r>
              <a:rPr lang="en-US" sz="2000" dirty="0" err="1">
                <a:solidFill>
                  <a:srgbClr val="1F2328"/>
                </a:solidFill>
              </a:rPr>
              <a:t>i,k</a:t>
            </a:r>
            <a:r>
              <a:rPr lang="en-US" sz="2000" dirty="0">
                <a:solidFill>
                  <a:srgbClr val="1F2328"/>
                </a:solidFill>
              </a:rPr>
              <a:t>}.</a:t>
            </a:r>
          </a:p>
          <a:p>
            <a:pPr lvl="0" indent="-330200">
              <a:lnSpc>
                <a:spcPct val="150000"/>
              </a:lnSpc>
              <a:spcBef>
                <a:spcPts val="0"/>
              </a:spcBef>
              <a:buClr>
                <a:srgbClr val="1F2328"/>
              </a:buClr>
              <a:buSzPts val="1600"/>
              <a:buFont typeface="Libre Baskerville"/>
              <a:buChar char="●"/>
            </a:pPr>
            <a:r>
              <a:rPr lang="en-US" sz="2000" dirty="0">
                <a:solidFill>
                  <a:srgbClr val="1F2328"/>
                </a:solidFill>
              </a:rPr>
              <a:t>Dense layer: y = </a:t>
            </a:r>
            <a:r>
              <a:rPr lang="en-US" sz="2000" dirty="0" err="1">
                <a:solidFill>
                  <a:srgbClr val="1F2328"/>
                </a:solidFill>
              </a:rPr>
              <a:t>softmax</a:t>
            </a:r>
            <a:r>
              <a:rPr lang="en-US" sz="2000" dirty="0">
                <a:solidFill>
                  <a:srgbClr val="1F2328"/>
                </a:solidFill>
              </a:rPr>
              <a:t>(</a:t>
            </a:r>
            <a:r>
              <a:rPr lang="en-US" sz="2000" dirty="0" err="1">
                <a:solidFill>
                  <a:srgbClr val="1F2328"/>
                </a:solidFill>
              </a:rPr>
              <a:t>Wx</a:t>
            </a:r>
            <a:r>
              <a:rPr lang="en-US" sz="2000" dirty="0">
                <a:solidFill>
                  <a:srgbClr val="1F2328"/>
                </a:solidFill>
              </a:rPr>
              <a:t> + b); </a:t>
            </a:r>
            <a:r>
              <a:rPr lang="en-US" sz="2000" dirty="0" err="1">
                <a:solidFill>
                  <a:srgbClr val="1F2328"/>
                </a:solidFill>
              </a:rPr>
              <a:t>softmax_k</a:t>
            </a:r>
            <a:r>
              <a:rPr lang="en-US" sz="2000" dirty="0">
                <a:solidFill>
                  <a:srgbClr val="1F2328"/>
                </a:solidFill>
              </a:rPr>
              <a:t> = exp(</a:t>
            </a:r>
            <a:r>
              <a:rPr lang="en-US" sz="2000" dirty="0" err="1">
                <a:solidFill>
                  <a:srgbClr val="1F2328"/>
                </a:solidFill>
              </a:rPr>
              <a:t>z_k</a:t>
            </a:r>
            <a:r>
              <a:rPr lang="en-US" sz="2000" dirty="0">
                <a:solidFill>
                  <a:srgbClr val="1F2328"/>
                </a:solidFill>
              </a:rPr>
              <a:t>)/</a:t>
            </a:r>
            <a:r>
              <a:rPr lang="el-GR" sz="2000" dirty="0">
                <a:solidFill>
                  <a:srgbClr val="1F2328"/>
                </a:solidFill>
              </a:rPr>
              <a:t>Σ_</a:t>
            </a:r>
            <a:r>
              <a:rPr lang="en-US" sz="2000" dirty="0">
                <a:solidFill>
                  <a:srgbClr val="1F2328"/>
                </a:solidFill>
              </a:rPr>
              <a:t>j exp(</a:t>
            </a:r>
            <a:r>
              <a:rPr lang="en-US" sz="2000" dirty="0" err="1">
                <a:solidFill>
                  <a:srgbClr val="1F2328"/>
                </a:solidFill>
              </a:rPr>
              <a:t>z_j</a:t>
            </a:r>
            <a:r>
              <a:rPr lang="en-US" sz="2000" dirty="0">
                <a:solidFill>
                  <a:srgbClr val="1F2328"/>
                </a:solidFill>
              </a:rPr>
              <a:t>).</a:t>
            </a:r>
          </a:p>
          <a:p>
            <a:pPr lvl="0" indent="-330200">
              <a:lnSpc>
                <a:spcPct val="150000"/>
              </a:lnSpc>
              <a:spcBef>
                <a:spcPts val="0"/>
              </a:spcBef>
              <a:buClr>
                <a:srgbClr val="1F2328"/>
              </a:buClr>
              <a:buSzPts val="1600"/>
              <a:buFont typeface="Libre Baskerville"/>
              <a:buChar char="●"/>
            </a:pPr>
            <a:r>
              <a:rPr lang="en-US" sz="2000" dirty="0">
                <a:solidFill>
                  <a:srgbClr val="1F2328"/>
                </a:solidFill>
              </a:rPr>
              <a:t>Loss: Sparse Categorical Cross-Entropy: L = - </a:t>
            </a:r>
            <a:r>
              <a:rPr lang="el-GR" sz="2000" dirty="0">
                <a:solidFill>
                  <a:srgbClr val="1F2328"/>
                </a:solidFill>
              </a:rPr>
              <a:t>Σ </a:t>
            </a:r>
            <a:r>
              <a:rPr lang="en-US" sz="2000" dirty="0">
                <a:solidFill>
                  <a:srgbClr val="1F2328"/>
                </a:solidFill>
              </a:rPr>
              <a:t>log p(</a:t>
            </a:r>
            <a:r>
              <a:rPr lang="en-US" sz="2000" dirty="0" err="1">
                <a:solidFill>
                  <a:srgbClr val="1F2328"/>
                </a:solidFill>
              </a:rPr>
              <a:t>y_i|x_i</a:t>
            </a:r>
            <a:r>
              <a:rPr lang="en-US" sz="2000" dirty="0">
                <a:solidFill>
                  <a:srgbClr val="1F2328"/>
                </a:solidFill>
              </a:rPr>
              <a:t>).</a:t>
            </a:r>
          </a:p>
          <a:p>
            <a:pPr lvl="0" indent="-330200">
              <a:lnSpc>
                <a:spcPct val="150000"/>
              </a:lnSpc>
              <a:spcBef>
                <a:spcPts val="0"/>
              </a:spcBef>
              <a:buClr>
                <a:srgbClr val="1F2328"/>
              </a:buClr>
              <a:buSzPts val="1600"/>
              <a:buFont typeface="Libre Baskerville"/>
              <a:buChar char="●"/>
            </a:pPr>
            <a:r>
              <a:rPr lang="en-US" sz="2000" dirty="0">
                <a:solidFill>
                  <a:srgbClr val="1F2328"/>
                </a:solidFill>
              </a:rPr>
              <a:t>Class weighting scales per-sample loss by weight w_{</a:t>
            </a:r>
            <a:r>
              <a:rPr lang="en-US" sz="2000" dirty="0" err="1">
                <a:solidFill>
                  <a:srgbClr val="1F2328"/>
                </a:solidFill>
              </a:rPr>
              <a:t>y_i</a:t>
            </a:r>
            <a:r>
              <a:rPr lang="en-US" sz="2000" dirty="0">
                <a:solidFill>
                  <a:srgbClr val="1F2328"/>
                </a:solidFill>
              </a:rPr>
              <a:t>}.</a:t>
            </a:r>
          </a:p>
        </p:txBody>
      </p:sp>
      <p:sp>
        <p:nvSpPr>
          <p:cNvPr id="2" name="Google Shape;161;p22">
            <a:extLst>
              <a:ext uri="{FF2B5EF4-FFF2-40B4-BE49-F238E27FC236}">
                <a16:creationId xmlns:a16="http://schemas.microsoft.com/office/drawing/2014/main" id="{BB02F627-67E1-39DD-55FE-7B22002F06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3484" y="31546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b="1" dirty="0"/>
              <a:t>Mathematical Models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413338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>
            <a:spLocks noGrp="1"/>
          </p:cNvSpPr>
          <p:nvPr>
            <p:ph type="body" idx="1"/>
          </p:nvPr>
        </p:nvSpPr>
        <p:spPr>
          <a:xfrm>
            <a:off x="253800" y="668425"/>
            <a:ext cx="8636400" cy="6406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580"/>
              </a:spcBef>
              <a:spcAft>
                <a:spcPts val="0"/>
              </a:spcAft>
              <a:buNone/>
            </a:pPr>
            <a:r>
              <a:rPr lang="en-IN" sz="4000" b="1" dirty="0">
                <a:solidFill>
                  <a:schemeClr val="dk2"/>
                </a:solidFill>
                <a:latin typeface="Libre Franklin" pitchFamily="2" charset="0"/>
              </a:rPr>
              <a:t>Results</a:t>
            </a:r>
            <a:endParaRPr sz="4000" dirty="0">
              <a:latin typeface="Libre Franklin" pitchFamily="2" charset="0"/>
            </a:endParaRPr>
          </a:p>
        </p:txBody>
      </p:sp>
      <p:pic>
        <p:nvPicPr>
          <p:cNvPr id="188" name="Google Shape;18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300" y="1811812"/>
            <a:ext cx="8775899" cy="424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550" y="1353325"/>
            <a:ext cx="8854899" cy="426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6150"/>
            <a:ext cx="8839201" cy="4288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>
            <a:spLocks noGrp="1"/>
          </p:cNvSpPr>
          <p:nvPr>
            <p:ph type="body" idx="1"/>
          </p:nvPr>
        </p:nvSpPr>
        <p:spPr>
          <a:xfrm>
            <a:off x="284925" y="265275"/>
            <a:ext cx="8557800" cy="6229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58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2"/>
                </a:solidFill>
                <a:latin typeface="Libre Franklin" pitchFamily="2" charset="0"/>
              </a:rPr>
              <a:t>Technology Stack</a:t>
            </a:r>
          </a:p>
          <a:p>
            <a:pPr marL="0" lvl="0" indent="0" algn="ctr" rtl="0">
              <a:spcBef>
                <a:spcPts val="580"/>
              </a:spcBef>
              <a:spcAft>
                <a:spcPts val="0"/>
              </a:spcAft>
              <a:buNone/>
            </a:pPr>
            <a:endParaRPr sz="4000" dirty="0">
              <a:latin typeface="Libre Franklin" pitchFamily="2" charset="0"/>
            </a:endParaRPr>
          </a:p>
          <a:p>
            <a:pPr marL="457200" lvl="0" indent="-330200" algn="l" rtl="0">
              <a:spcBef>
                <a:spcPts val="580"/>
              </a:spcBef>
              <a:spcAft>
                <a:spcPts val="0"/>
              </a:spcAft>
              <a:buClr>
                <a:srgbClr val="1F2328"/>
              </a:buClr>
              <a:buSzPts val="1600"/>
              <a:buChar char="●"/>
            </a:pPr>
            <a:r>
              <a:rPr lang="en-US" sz="1600" b="1" dirty="0">
                <a:solidFill>
                  <a:srgbClr val="1F2328"/>
                </a:solidFill>
                <a:highlight>
                  <a:srgbClr val="FFFFFF"/>
                </a:highlight>
              </a:rPr>
              <a:t>Language:</a:t>
            </a:r>
            <a:r>
              <a:rPr lang="en-US" sz="1600" dirty="0">
                <a:solidFill>
                  <a:srgbClr val="1F2328"/>
                </a:solidFill>
                <a:highlight>
                  <a:srgbClr val="FFFFFF"/>
                </a:highlight>
              </a:rPr>
              <a:t> Python 3.x.</a:t>
            </a:r>
            <a:endParaRPr sz="1600" dirty="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600"/>
              <a:buFont typeface="Libre Baskerville"/>
              <a:buChar char="●"/>
            </a:pPr>
            <a:r>
              <a:rPr lang="en-US" sz="1600" b="1" dirty="0">
                <a:solidFill>
                  <a:srgbClr val="1F2328"/>
                </a:solidFill>
                <a:highlight>
                  <a:srgbClr val="FFFFFF"/>
                </a:highlight>
              </a:rPr>
              <a:t>Data Handling:</a:t>
            </a:r>
            <a:r>
              <a:rPr lang="en-US" sz="1600" dirty="0">
                <a:solidFill>
                  <a:srgbClr val="1F2328"/>
                </a:solidFill>
                <a:highlight>
                  <a:srgbClr val="FFFFFF"/>
                </a:highlight>
              </a:rPr>
              <a:t> pandas, </a:t>
            </a:r>
            <a:r>
              <a:rPr lang="en-US" sz="1600" dirty="0" err="1">
                <a:solidFill>
                  <a:srgbClr val="1F2328"/>
                </a:solidFill>
                <a:highlight>
                  <a:srgbClr val="FFFFFF"/>
                </a:highlight>
              </a:rPr>
              <a:t>numpy</a:t>
            </a:r>
            <a:r>
              <a:rPr lang="en-US" sz="1600" dirty="0">
                <a:solidFill>
                  <a:srgbClr val="1F2328"/>
                </a:solidFill>
                <a:highlight>
                  <a:srgbClr val="FFFFFF"/>
                </a:highlight>
              </a:rPr>
              <a:t>.</a:t>
            </a:r>
            <a:endParaRPr sz="1600" dirty="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600"/>
              <a:buFont typeface="Libre Baskerville"/>
              <a:buChar char="●"/>
            </a:pPr>
            <a:r>
              <a:rPr lang="en-US" sz="1600" b="1" dirty="0">
                <a:solidFill>
                  <a:srgbClr val="1F2328"/>
                </a:solidFill>
                <a:highlight>
                  <a:srgbClr val="FFFFFF"/>
                </a:highlight>
              </a:rPr>
              <a:t>Feature Scaling/Encoding:</a:t>
            </a:r>
            <a:r>
              <a:rPr lang="en-US" sz="1600" dirty="0">
                <a:solidFill>
                  <a:srgbClr val="1F2328"/>
                </a:solidFill>
                <a:highlight>
                  <a:srgbClr val="FFFFFF"/>
                </a:highlight>
              </a:rPr>
              <a:t> scikit-learn (</a:t>
            </a:r>
            <a:r>
              <a:rPr lang="en-US" sz="1600" dirty="0" err="1">
                <a:solidFill>
                  <a:srgbClr val="1F2328"/>
                </a:solidFill>
                <a:highlight>
                  <a:srgbClr val="FFFFFF"/>
                </a:highlight>
              </a:rPr>
              <a:t>MinMaxScaler</a:t>
            </a:r>
            <a:r>
              <a:rPr lang="en-US" sz="1600" dirty="0">
                <a:solidFill>
                  <a:srgbClr val="1F2328"/>
                </a:solidFill>
                <a:highlight>
                  <a:srgbClr val="FFFFFF"/>
                </a:highlight>
              </a:rPr>
              <a:t>, </a:t>
            </a:r>
            <a:r>
              <a:rPr lang="en-US" sz="1600" dirty="0" err="1">
                <a:solidFill>
                  <a:srgbClr val="1F2328"/>
                </a:solidFill>
                <a:highlight>
                  <a:srgbClr val="FFFFFF"/>
                </a:highlight>
              </a:rPr>
              <a:t>LabelEncoder</a:t>
            </a:r>
            <a:r>
              <a:rPr lang="en-US" sz="1600" dirty="0">
                <a:solidFill>
                  <a:srgbClr val="1F2328"/>
                </a:solidFill>
                <a:highlight>
                  <a:srgbClr val="FFFFFF"/>
                </a:highlight>
              </a:rPr>
              <a:t>, </a:t>
            </a:r>
            <a:r>
              <a:rPr lang="en-US" sz="1600" dirty="0" err="1">
                <a:solidFill>
                  <a:srgbClr val="1F2328"/>
                </a:solidFill>
                <a:highlight>
                  <a:srgbClr val="FFFFFF"/>
                </a:highlight>
              </a:rPr>
              <a:t>RandomForestClassifier</a:t>
            </a:r>
            <a:r>
              <a:rPr lang="en-US" sz="1600" dirty="0">
                <a:solidFill>
                  <a:srgbClr val="1F2328"/>
                </a:solidFill>
                <a:highlight>
                  <a:srgbClr val="FFFFFF"/>
                </a:highlight>
              </a:rPr>
              <a:t>, </a:t>
            </a:r>
            <a:r>
              <a:rPr lang="en-US" sz="1600" dirty="0" err="1">
                <a:solidFill>
                  <a:srgbClr val="1F2328"/>
                </a:solidFill>
                <a:highlight>
                  <a:srgbClr val="FFFFFF"/>
                </a:highlight>
              </a:rPr>
              <a:t>SGDClassifier</a:t>
            </a:r>
            <a:r>
              <a:rPr lang="en-US" sz="1600" dirty="0">
                <a:solidFill>
                  <a:srgbClr val="1F2328"/>
                </a:solidFill>
                <a:highlight>
                  <a:srgbClr val="FFFFFF"/>
                </a:highlight>
              </a:rPr>
              <a:t>, </a:t>
            </a:r>
            <a:r>
              <a:rPr lang="en-US" sz="1600" dirty="0" err="1">
                <a:solidFill>
                  <a:srgbClr val="1F2328"/>
                </a:solidFill>
                <a:highlight>
                  <a:srgbClr val="FFFFFF"/>
                </a:highlight>
              </a:rPr>
              <a:t>VotingClassifier</a:t>
            </a:r>
            <a:r>
              <a:rPr lang="en-US" sz="1600" dirty="0">
                <a:solidFill>
                  <a:srgbClr val="1F2328"/>
                </a:solidFill>
                <a:highlight>
                  <a:srgbClr val="FFFFFF"/>
                </a:highlight>
              </a:rPr>
              <a:t>, SVC, </a:t>
            </a:r>
            <a:r>
              <a:rPr lang="en-US" sz="1600" dirty="0" err="1">
                <a:solidFill>
                  <a:srgbClr val="1F2328"/>
                </a:solidFill>
                <a:highlight>
                  <a:srgbClr val="FFFFFF"/>
                </a:highlight>
              </a:rPr>
              <a:t>class_weight</a:t>
            </a:r>
            <a:r>
              <a:rPr lang="en-US" sz="1600" dirty="0">
                <a:solidFill>
                  <a:srgbClr val="1F2328"/>
                </a:solidFill>
                <a:highlight>
                  <a:srgbClr val="FFFFFF"/>
                </a:highlight>
              </a:rPr>
              <a:t> utilities, metrics).</a:t>
            </a:r>
            <a:endParaRPr sz="1600" dirty="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600"/>
              <a:buFont typeface="Libre Baskerville"/>
              <a:buChar char="●"/>
            </a:pPr>
            <a:r>
              <a:rPr lang="en-US" sz="1600" b="1" dirty="0">
                <a:solidFill>
                  <a:srgbClr val="1F2328"/>
                </a:solidFill>
                <a:highlight>
                  <a:srgbClr val="FFFFFF"/>
                </a:highlight>
              </a:rPr>
              <a:t>Deep Learning: </a:t>
            </a:r>
            <a:r>
              <a:rPr lang="en-US" sz="1600" dirty="0">
                <a:solidFill>
                  <a:srgbClr val="1F2328"/>
                </a:solidFill>
                <a:highlight>
                  <a:srgbClr val="FFFFFF"/>
                </a:highlight>
              </a:rPr>
              <a:t>TensorFlow / </a:t>
            </a:r>
            <a:r>
              <a:rPr lang="en-US" sz="1600" dirty="0" err="1">
                <a:solidFill>
                  <a:srgbClr val="1F2328"/>
                </a:solidFill>
                <a:highlight>
                  <a:srgbClr val="FFFFFF"/>
                </a:highlight>
              </a:rPr>
              <a:t>Keras</a:t>
            </a:r>
            <a:r>
              <a:rPr lang="en-US" sz="1600" dirty="0">
                <a:solidFill>
                  <a:srgbClr val="1F2328"/>
                </a:solidFill>
                <a:highlight>
                  <a:srgbClr val="FFFFFF"/>
                </a:highlight>
              </a:rPr>
              <a:t> (Conv1D, Dense, Dropout, </a:t>
            </a:r>
            <a:r>
              <a:rPr lang="en-US" sz="1600" dirty="0" err="1">
                <a:solidFill>
                  <a:srgbClr val="1F2328"/>
                </a:solidFill>
                <a:highlight>
                  <a:srgbClr val="FFFFFF"/>
                </a:highlight>
              </a:rPr>
              <a:t>BatchNormalization</a:t>
            </a:r>
            <a:r>
              <a:rPr lang="en-US" sz="1600" dirty="0">
                <a:solidFill>
                  <a:srgbClr val="1F2328"/>
                </a:solidFill>
                <a:highlight>
                  <a:srgbClr val="FFFFFF"/>
                </a:highlight>
              </a:rPr>
              <a:t>, optimizers, callbacks).</a:t>
            </a:r>
            <a:endParaRPr sz="1600" dirty="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600"/>
              <a:buFont typeface="Arial"/>
              <a:buChar char="●"/>
            </a:pPr>
            <a:r>
              <a:rPr lang="en-US" sz="1600" b="1" dirty="0">
                <a:solidFill>
                  <a:srgbClr val="1F2328"/>
                </a:solidFill>
                <a:highlight>
                  <a:srgbClr val="FFFFFF"/>
                </a:highlight>
              </a:rPr>
              <a:t>Model Persistence:</a:t>
            </a:r>
            <a:r>
              <a:rPr lang="en-US" sz="1600" dirty="0">
                <a:solidFill>
                  <a:srgbClr val="1F2328"/>
                </a:solidFill>
                <a:highlight>
                  <a:srgbClr val="FFFFFF"/>
                </a:highlight>
              </a:rPr>
              <a:t> </a:t>
            </a:r>
            <a:r>
              <a:rPr lang="en-US" sz="1600" dirty="0" err="1">
                <a:solidFill>
                  <a:srgbClr val="1F2328"/>
                </a:solidFill>
                <a:highlight>
                  <a:srgbClr val="FFFFFF"/>
                </a:highlight>
              </a:rPr>
              <a:t>joblib</a:t>
            </a:r>
            <a:r>
              <a:rPr lang="en-US" sz="1600" dirty="0">
                <a:solidFill>
                  <a:srgbClr val="1F2328"/>
                </a:solidFill>
                <a:highlight>
                  <a:srgbClr val="FFFFFF"/>
                </a:highlight>
              </a:rPr>
              <a:t>, </a:t>
            </a:r>
            <a:r>
              <a:rPr lang="en-US" sz="1600" dirty="0" err="1">
                <a:solidFill>
                  <a:srgbClr val="1F2328"/>
                </a:solidFill>
                <a:highlight>
                  <a:srgbClr val="FFFFFF"/>
                </a:highlight>
              </a:rPr>
              <a:t>Keras</a:t>
            </a:r>
            <a:r>
              <a:rPr lang="en-US" sz="1600" dirty="0">
                <a:solidFill>
                  <a:srgbClr val="1F2328"/>
                </a:solidFill>
                <a:highlight>
                  <a:srgbClr val="FFFFFF"/>
                </a:highlight>
              </a:rPr>
              <a:t> .</a:t>
            </a:r>
            <a:r>
              <a:rPr lang="en-US" sz="1600" dirty="0" err="1">
                <a:solidFill>
                  <a:srgbClr val="1F2328"/>
                </a:solidFill>
                <a:highlight>
                  <a:srgbClr val="FFFFFF"/>
                </a:highlight>
              </a:rPr>
              <a:t>keras</a:t>
            </a:r>
            <a:r>
              <a:rPr lang="en-US" sz="1600" dirty="0">
                <a:solidFill>
                  <a:srgbClr val="1F2328"/>
                </a:solidFill>
                <a:highlight>
                  <a:srgbClr val="FFFFFF"/>
                </a:highlight>
              </a:rPr>
              <a:t> format, JSON for metadata.</a:t>
            </a:r>
            <a:endParaRPr sz="1600" dirty="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600"/>
              <a:buFont typeface="Arial"/>
              <a:buChar char="●"/>
            </a:pPr>
            <a:r>
              <a:rPr lang="en-US" sz="1600" b="1" dirty="0">
                <a:solidFill>
                  <a:srgbClr val="1F2328"/>
                </a:solidFill>
                <a:highlight>
                  <a:srgbClr val="FFFFFF"/>
                </a:highlight>
              </a:rPr>
              <a:t>Explainability (present in repo): </a:t>
            </a:r>
            <a:r>
              <a:rPr lang="en-US" sz="1600" dirty="0">
                <a:solidFill>
                  <a:srgbClr val="1F2328"/>
                </a:solidFill>
                <a:highlight>
                  <a:srgbClr val="FFFFFF"/>
                </a:highlight>
              </a:rPr>
              <a:t>LIME (local surrogate explanation) referenced in explainability/ (not detailed here).</a:t>
            </a:r>
            <a:endParaRPr sz="1600" dirty="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600"/>
              <a:buFont typeface="Libre Baskerville"/>
              <a:buChar char="●"/>
            </a:pPr>
            <a:r>
              <a:rPr lang="en-US" sz="1600" b="1" dirty="0">
                <a:solidFill>
                  <a:srgbClr val="1F2328"/>
                </a:solidFill>
                <a:highlight>
                  <a:srgbClr val="FFFFFF"/>
                </a:highlight>
              </a:rPr>
              <a:t>Deployment: </a:t>
            </a:r>
            <a:r>
              <a:rPr lang="en-US" sz="1600" dirty="0">
                <a:solidFill>
                  <a:srgbClr val="1F2328"/>
                </a:solidFill>
                <a:highlight>
                  <a:srgbClr val="FFFFFF"/>
                </a:highlight>
              </a:rPr>
              <a:t>Flask / </a:t>
            </a:r>
            <a:r>
              <a:rPr lang="en-US" sz="1600" dirty="0" err="1">
                <a:solidFill>
                  <a:srgbClr val="1F2328"/>
                </a:solidFill>
                <a:highlight>
                  <a:srgbClr val="FFFFFF"/>
                </a:highlight>
              </a:rPr>
              <a:t>FastAPI</a:t>
            </a:r>
            <a:r>
              <a:rPr lang="en-US" sz="1600" dirty="0">
                <a:solidFill>
                  <a:srgbClr val="1F2328"/>
                </a:solidFill>
                <a:highlight>
                  <a:srgbClr val="FFFFFF"/>
                </a:highlight>
              </a:rPr>
              <a:t> style (API folder) – script not opened but implied; </a:t>
            </a:r>
            <a:r>
              <a:rPr lang="en-US" sz="1600" dirty="0" err="1">
                <a:solidFill>
                  <a:srgbClr val="1F2328"/>
                </a:solidFill>
                <a:highlight>
                  <a:srgbClr val="FFFFFF"/>
                </a:highlight>
              </a:rPr>
              <a:t>Dockerfile</a:t>
            </a:r>
            <a:r>
              <a:rPr lang="en-US" sz="1600" dirty="0">
                <a:solidFill>
                  <a:srgbClr val="1F2328"/>
                </a:solidFill>
                <a:highlight>
                  <a:srgbClr val="FFFFFF"/>
                </a:highlight>
              </a:rPr>
              <a:t> for containerization.</a:t>
            </a:r>
            <a:endParaRPr sz="1600" dirty="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600"/>
              <a:buFont typeface="Libre Baskerville"/>
              <a:buChar char="●"/>
            </a:pPr>
            <a:r>
              <a:rPr lang="en-US" sz="1600" b="1" dirty="0">
                <a:solidFill>
                  <a:srgbClr val="1F2328"/>
                </a:solidFill>
                <a:highlight>
                  <a:srgbClr val="FFFFFF"/>
                </a:highlight>
              </a:rPr>
              <a:t>Environment / Config:</a:t>
            </a:r>
            <a:r>
              <a:rPr lang="en-US" sz="1600" dirty="0">
                <a:solidFill>
                  <a:srgbClr val="1F2328"/>
                </a:solidFill>
                <a:highlight>
                  <a:srgbClr val="FFFFFF"/>
                </a:highlight>
              </a:rPr>
              <a:t> OS env vars (MAX_ROWS, TRAIN_GAN, PRIMARY_DATA, SYNTH_DATA, OUTPUT_MODEL).</a:t>
            </a:r>
            <a:endParaRPr sz="1600" dirty="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600"/>
              <a:buFont typeface="Libre Baskerville"/>
              <a:buChar char="●"/>
            </a:pPr>
            <a:r>
              <a:rPr lang="en-US" sz="1600" b="1" dirty="0">
                <a:solidFill>
                  <a:srgbClr val="1F2328"/>
                </a:solidFill>
                <a:highlight>
                  <a:srgbClr val="FFFFFF"/>
                </a:highlight>
              </a:rPr>
              <a:t>Version Control &amp; Packaging: </a:t>
            </a:r>
            <a:r>
              <a:rPr lang="en-US" sz="1600" dirty="0">
                <a:solidFill>
                  <a:srgbClr val="1F2328"/>
                </a:solidFill>
                <a:highlight>
                  <a:srgbClr val="FFFFFF"/>
                </a:highlight>
              </a:rPr>
              <a:t>Docker, requirements assumed (not explicitly listed here but derivable from imports).</a:t>
            </a: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700" dirty="0"/>
          </a:p>
          <a:p>
            <a:pPr marL="0" lvl="0" indent="0" algn="l" rtl="0">
              <a:spcBef>
                <a:spcPts val="58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>
            <a:spLocks noGrp="1"/>
          </p:cNvSpPr>
          <p:nvPr>
            <p:ph type="title"/>
          </p:nvPr>
        </p:nvSpPr>
        <p:spPr>
          <a:xfrm>
            <a:off x="812800" y="414338"/>
            <a:ext cx="7772400" cy="1143000"/>
          </a:xfrm>
          <a:prstGeom prst="rect">
            <a:avLst/>
          </a:prstGeom>
        </p:spPr>
        <p:txBody>
          <a:bodyPr spcFirstLastPara="1" wrap="square" lIns="91425" tIns="45700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Clr>
                <a:schemeClr val="dk1"/>
              </a:buClr>
              <a:buSzPct val="27500"/>
              <a:buFont typeface="Arial"/>
              <a:buNone/>
            </a:pPr>
            <a:r>
              <a:rPr lang="en-US" b="1" dirty="0">
                <a:highlight>
                  <a:srgbClr val="FFFFFF"/>
                </a:highlight>
                <a:latin typeface="Libre Franklin" pitchFamily="2" charset="0"/>
                <a:ea typeface="Libre Baskerville"/>
                <a:cs typeface="Times New Roman" panose="02020603050405020304" pitchFamily="18" charset="0"/>
                <a:sym typeface="Libre Baskerville"/>
              </a:rPr>
              <a:t> Open Source Tools</a:t>
            </a:r>
            <a:endParaRPr dirty="0">
              <a:latin typeface="Libre Franklin" pitchFamily="2" charset="0"/>
            </a:endParaRPr>
          </a:p>
        </p:txBody>
      </p:sp>
      <p:sp>
        <p:nvSpPr>
          <p:cNvPr id="209" name="Google Shape;209;p31"/>
          <p:cNvSpPr txBox="1">
            <a:spLocks noGrp="1"/>
          </p:cNvSpPr>
          <p:nvPr>
            <p:ph type="body" idx="1"/>
          </p:nvPr>
        </p:nvSpPr>
        <p:spPr>
          <a:xfrm>
            <a:off x="431800" y="1888744"/>
            <a:ext cx="8420100" cy="457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700"/>
              <a:buFont typeface="Libre Baskerville"/>
              <a:buChar char="●"/>
            </a:pPr>
            <a:r>
              <a:rPr lang="en-US" sz="1700" dirty="0">
                <a:solidFill>
                  <a:srgbClr val="1F2328"/>
                </a:solidFill>
                <a:highlight>
                  <a:srgbClr val="FFFFFF"/>
                </a:highlight>
              </a:rPr>
              <a:t>Libraries (standard open source):</a:t>
            </a:r>
            <a:endParaRPr sz="1700" dirty="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700"/>
              <a:buFont typeface="Libre Baskerville"/>
              <a:buChar char="○"/>
            </a:pPr>
            <a:r>
              <a:rPr lang="en-US" sz="1700" dirty="0">
                <a:solidFill>
                  <a:srgbClr val="1F2328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pandas (BSD-3-Clause)</a:t>
            </a:r>
            <a:endParaRPr sz="1700" dirty="0">
              <a:solidFill>
                <a:srgbClr val="1F2328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700"/>
              <a:buFont typeface="Libre Baskerville"/>
              <a:buChar char="○"/>
            </a:pPr>
            <a:r>
              <a:rPr lang="en-US" sz="1700" dirty="0" err="1">
                <a:solidFill>
                  <a:srgbClr val="1F2328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1700" dirty="0">
                <a:solidFill>
                  <a:srgbClr val="1F2328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(BSD)</a:t>
            </a:r>
            <a:endParaRPr sz="1700" dirty="0">
              <a:solidFill>
                <a:srgbClr val="1F2328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700"/>
              <a:buFont typeface="Libre Baskerville"/>
              <a:buChar char="○"/>
            </a:pPr>
            <a:r>
              <a:rPr lang="en-US" sz="1700" dirty="0">
                <a:solidFill>
                  <a:srgbClr val="1F2328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(BSD)</a:t>
            </a:r>
            <a:endParaRPr sz="1700" dirty="0">
              <a:solidFill>
                <a:srgbClr val="1F2328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700"/>
              <a:buFont typeface="Libre Baskerville"/>
              <a:buChar char="○"/>
            </a:pPr>
            <a:r>
              <a:rPr lang="en-US" sz="1700" dirty="0">
                <a:solidFill>
                  <a:srgbClr val="1F2328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TensorFlow / </a:t>
            </a:r>
            <a:r>
              <a:rPr lang="en-US" sz="1700" dirty="0" err="1">
                <a:solidFill>
                  <a:srgbClr val="1F2328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1700" dirty="0">
                <a:solidFill>
                  <a:srgbClr val="1F2328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(Apache 2.0)</a:t>
            </a:r>
            <a:endParaRPr sz="1700" dirty="0">
              <a:solidFill>
                <a:srgbClr val="1F2328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700"/>
              <a:buFont typeface="Libre Baskerville"/>
              <a:buChar char="○"/>
            </a:pPr>
            <a:r>
              <a:rPr lang="en-US" sz="1700" dirty="0" err="1">
                <a:solidFill>
                  <a:srgbClr val="1F2328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lang="en-US" sz="1700" dirty="0">
                <a:solidFill>
                  <a:srgbClr val="1F2328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(BSD)</a:t>
            </a:r>
            <a:endParaRPr sz="1700" dirty="0">
              <a:solidFill>
                <a:srgbClr val="1F2328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700"/>
              <a:buFont typeface="Libre Baskerville"/>
              <a:buChar char="○"/>
            </a:pPr>
            <a:r>
              <a:rPr lang="en-US" sz="1700" dirty="0">
                <a:solidFill>
                  <a:srgbClr val="1F2328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LIME (BSD)</a:t>
            </a:r>
            <a:endParaRPr sz="1700" dirty="0">
              <a:solidFill>
                <a:srgbClr val="1F2328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700"/>
              <a:buFont typeface="Libre Baskerville"/>
              <a:buChar char="○"/>
            </a:pPr>
            <a:r>
              <a:rPr lang="en-US" sz="1700" dirty="0">
                <a:solidFill>
                  <a:srgbClr val="1F2328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(Likely) Flask or </a:t>
            </a:r>
            <a:r>
              <a:rPr lang="en-US" sz="1700" dirty="0" err="1">
                <a:solidFill>
                  <a:srgbClr val="1F2328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1700" dirty="0">
                <a:solidFill>
                  <a:srgbClr val="1F2328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(BSD / MIT depending) for API</a:t>
            </a:r>
            <a:endParaRPr sz="1700" dirty="0">
              <a:solidFill>
                <a:srgbClr val="1F2328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700"/>
              <a:buFont typeface="Libre Baskerville"/>
              <a:buChar char="●"/>
            </a:pPr>
            <a:r>
              <a:rPr lang="en-US" sz="1700" dirty="0">
                <a:solidFill>
                  <a:srgbClr val="1F2328"/>
                </a:solidFill>
                <a:highlight>
                  <a:srgbClr val="FFFFFF"/>
                </a:highlight>
              </a:rPr>
              <a:t>No embedded external repository code snippets observed; all logic appears custom composition around library APIs.</a:t>
            </a:r>
            <a:endParaRPr sz="1700" dirty="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700"/>
              <a:buFont typeface="Libre Baskerville"/>
              <a:buChar char="●"/>
            </a:pPr>
            <a:r>
              <a:rPr lang="en-US" sz="1700" dirty="0">
                <a:solidFill>
                  <a:srgbClr val="1F2328"/>
                </a:solidFill>
                <a:highlight>
                  <a:srgbClr val="FFFFFF"/>
                </a:highlight>
              </a:rPr>
              <a:t>Conditional GAN implementation is lightweight, custom (not copied from a template/official example; structure is standard MLP pattern).</a:t>
            </a:r>
            <a:endParaRPr sz="1700" dirty="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700"/>
              <a:buFont typeface="Libre Baskerville"/>
              <a:buChar char="●"/>
            </a:pPr>
            <a:r>
              <a:rPr lang="en-US" sz="1700" dirty="0">
                <a:solidFill>
                  <a:srgbClr val="1F2328"/>
                </a:solidFill>
                <a:highlight>
                  <a:srgbClr val="FFFFFF"/>
                </a:highlight>
              </a:rPr>
              <a:t>Attribution: Using public APIs of the above libraries under their respective permissive licenses; no copyleft obligations detected.</a:t>
            </a:r>
            <a:endParaRPr sz="1700" dirty="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827138"/>
            <a:ext cx="8077200" cy="479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75" y="702600"/>
            <a:ext cx="8324850" cy="471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"/>
          <p:cNvSpPr txBox="1"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/>
              <a:t>Project Outcomes</a:t>
            </a:r>
            <a:endParaRPr/>
          </a:p>
        </p:txBody>
      </p:sp>
      <p:sp>
        <p:nvSpPr>
          <p:cNvPr id="225" name="Google Shape;225;p34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lvl="0" indent="0" algn="l" rtl="0">
              <a:lnSpc>
                <a:spcPct val="1382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endParaRPr sz="3200" dirty="0">
              <a:latin typeface="Arial"/>
              <a:ea typeface="Arial"/>
              <a:cs typeface="Arial"/>
              <a:sym typeface="Arial"/>
            </a:endParaRPr>
          </a:p>
          <a:p>
            <a:pPr marL="1143000" lvl="0" indent="-325119" algn="l" rtl="0">
              <a:lnSpc>
                <a:spcPct val="1382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AI-powered frontend composition assistant for faster detection</a:t>
            </a:r>
            <a:endParaRPr sz="3200" dirty="0">
              <a:latin typeface="Arial"/>
              <a:ea typeface="Arial"/>
              <a:cs typeface="Arial"/>
              <a:sym typeface="Arial"/>
            </a:endParaRPr>
          </a:p>
          <a:p>
            <a:pPr marL="1143000" lvl="0" indent="-325119" algn="l" rtl="0">
              <a:lnSpc>
                <a:spcPct val="1382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Intelligent notification system for important/priority threats</a:t>
            </a:r>
            <a:endParaRPr sz="3200" dirty="0">
              <a:latin typeface="Arial"/>
              <a:ea typeface="Arial"/>
              <a:cs typeface="Arial"/>
              <a:sym typeface="Arial"/>
            </a:endParaRPr>
          </a:p>
          <a:p>
            <a:pPr marL="1143000" lvl="0" indent="-325119" algn="l" rtl="0">
              <a:lnSpc>
                <a:spcPct val="1382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-IN" sz="3200" dirty="0">
                <a:latin typeface="Arial"/>
                <a:ea typeface="Arial"/>
                <a:cs typeface="Arial"/>
                <a:sym typeface="Arial"/>
              </a:rPr>
              <a:t>Vast number of threats</a:t>
            </a:r>
            <a:endParaRPr sz="3200" dirty="0">
              <a:latin typeface="Arial"/>
              <a:ea typeface="Arial"/>
              <a:cs typeface="Arial"/>
              <a:sym typeface="Arial"/>
            </a:endParaRPr>
          </a:p>
          <a:p>
            <a:pPr marL="1143000" lvl="0" indent="-325119" algn="l" rtl="0">
              <a:lnSpc>
                <a:spcPct val="1382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Scalable deployment with </a:t>
            </a:r>
            <a:r>
              <a:rPr lang="en-US" sz="3200" dirty="0" err="1">
                <a:latin typeface="Arial"/>
                <a:ea typeface="Arial"/>
                <a:cs typeface="Arial"/>
                <a:sym typeface="Arial"/>
              </a:rPr>
              <a:t>Vercel</a:t>
            </a: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 &amp; Neon (serverless Postgres)</a:t>
            </a:r>
            <a:endParaRPr sz="3200" dirty="0">
              <a:latin typeface="Arial"/>
              <a:ea typeface="Arial"/>
              <a:cs typeface="Arial"/>
              <a:sym typeface="Arial"/>
            </a:endParaRPr>
          </a:p>
          <a:p>
            <a:pPr marL="1143000" lvl="0" indent="-325119" algn="l" rtl="0">
              <a:lnSpc>
                <a:spcPct val="1382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Clean and modern UI with </a:t>
            </a:r>
            <a:r>
              <a:rPr lang="en-IN" sz="3200" dirty="0">
                <a:latin typeface="Arial"/>
                <a:ea typeface="Arial"/>
                <a:cs typeface="Arial"/>
                <a:sym typeface="Arial"/>
              </a:rPr>
              <a:t>CSS + JavaScript</a:t>
            </a:r>
            <a:endParaRPr sz="32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382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endParaRPr lang="en-US" sz="32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382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Academic Outcomes:</a:t>
            </a:r>
            <a:endParaRPr sz="3200" dirty="0">
              <a:latin typeface="Arial"/>
              <a:ea typeface="Arial"/>
              <a:cs typeface="Arial"/>
              <a:sym typeface="Arial"/>
            </a:endParaRPr>
          </a:p>
          <a:p>
            <a:pPr marL="1143000" lvl="0" indent="-325119" algn="l" rtl="0">
              <a:lnSpc>
                <a:spcPct val="1382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Poster/Research Paper: Planned for submission in college tech fest / symposium</a:t>
            </a:r>
            <a:endParaRPr sz="3200" dirty="0">
              <a:latin typeface="Arial"/>
              <a:ea typeface="Arial"/>
              <a:cs typeface="Arial"/>
              <a:sym typeface="Arial"/>
            </a:endParaRPr>
          </a:p>
          <a:p>
            <a:pPr marL="1143000" lvl="0" indent="-325119" algn="l" rtl="0">
              <a:lnSpc>
                <a:spcPct val="1382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Prototype Demo: A working web app will be demonstrated live</a:t>
            </a:r>
            <a:endParaRPr sz="3200" dirty="0">
              <a:latin typeface="Arial"/>
              <a:ea typeface="Arial"/>
              <a:cs typeface="Arial"/>
              <a:sym typeface="Arial"/>
            </a:endParaRPr>
          </a:p>
          <a:p>
            <a:pPr marL="1143000" lvl="0" indent="-325119" algn="l" rtl="0">
              <a:lnSpc>
                <a:spcPct val="1382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Patent: Not filed yet, but possible in future for AI-based notification + better models</a:t>
            </a:r>
            <a:endParaRPr sz="32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quity">
  <a:themeElements>
    <a:clrScheme name="Equity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1504</Words>
  <Application>Microsoft Office PowerPoint</Application>
  <PresentationFormat>On-screen Show (4:3)</PresentationFormat>
  <Paragraphs>134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Noto Sans Symbols</vt:lpstr>
      <vt:lpstr>Libre Baskerville</vt:lpstr>
      <vt:lpstr>Times New Roman</vt:lpstr>
      <vt:lpstr>Libre Franklin</vt:lpstr>
      <vt:lpstr>Equity</vt:lpstr>
      <vt:lpstr>“AI-BASED CYBER THREAT DETECTION IN NETWORK TRAFFIC”</vt:lpstr>
      <vt:lpstr>Contents</vt:lpstr>
      <vt:lpstr>Introduction</vt:lpstr>
      <vt:lpstr>Objectives</vt:lpstr>
      <vt:lpstr>Problem Statement </vt:lpstr>
      <vt:lpstr>System Design</vt:lpstr>
      <vt:lpstr>System Design</vt:lpstr>
      <vt:lpstr>System Design</vt:lpstr>
      <vt:lpstr>System Architecture</vt:lpstr>
      <vt:lpstr>Implementation</vt:lpstr>
      <vt:lpstr>Implementation</vt:lpstr>
      <vt:lpstr>Implementation</vt:lpstr>
      <vt:lpstr>Implementation</vt:lpstr>
      <vt:lpstr>Mathematical Models</vt:lpstr>
      <vt:lpstr>Mathematical Models</vt:lpstr>
      <vt:lpstr>PowerPoint Presentation</vt:lpstr>
      <vt:lpstr>PowerPoint Presentation</vt:lpstr>
      <vt:lpstr>PowerPoint Presentation</vt:lpstr>
      <vt:lpstr>PowerPoint Presentation</vt:lpstr>
      <vt:lpstr> Open Source Tools</vt:lpstr>
      <vt:lpstr>PowerPoint Presentation</vt:lpstr>
      <vt:lpstr>PowerPoint Presentation</vt:lpstr>
      <vt:lpstr>Project Outcomes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Rahul Datta</cp:lastModifiedBy>
  <cp:revision>7</cp:revision>
  <dcterms:modified xsi:type="dcterms:W3CDTF">2025-09-13T06:12:16Z</dcterms:modified>
</cp:coreProperties>
</file>